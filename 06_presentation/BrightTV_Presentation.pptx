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Subscribers 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bubble3D val="0"/>
            <c:spPr>
              <a:solidFill>
                <a:srgbClr val="F2994A"/>
              </a:solidFill>
              <a:effectLst/>
            </c:spPr>
          </c:dPt>
          <c:dPt>
            <c:idx val="2"/>
            <c:bubble3D val="0"/>
            <c:spPr>
              <a:solidFill>
                <a:srgbClr val="AAAAA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3723</c:v>
                </c:pt>
                <c:pt idx="1">
                  <c:v>488</c:v>
                </c:pt>
                <c:pt idx="2">
                  <c:v>175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Subscribers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Adults</c:v>
                  </c:pt>
                  <c:pt idx="1">
                    <c:v>Youth</c:v>
                  </c:pt>
                  <c:pt idx="2">
                    <c:v>Kids</c:v>
                  </c:pt>
                  <c:pt idx="3">
                    <c:v>Teenagers</c:v>
                  </c:pt>
                  <c:pt idx="4">
                    <c:v>Pensioners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2570</c:v>
                </c:pt>
                <c:pt idx="1">
                  <c:v>1486</c:v>
                </c:pt>
                <c:pt idx="2">
                  <c:v>212</c:v>
                </c:pt>
                <c:pt idx="3">
                  <c:v>68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Subscribers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KwaZulu-Natal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Northern Cape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1607</c:v>
                </c:pt>
                <c:pt idx="1">
                  <c:v>770</c:v>
                </c:pt>
                <c:pt idx="2">
                  <c:v>448</c:v>
                </c:pt>
                <c:pt idx="3">
                  <c:v>391</c:v>
                </c:pt>
                <c:pt idx="4">
                  <c:v>342</c:v>
                </c:pt>
                <c:pt idx="5">
                  <c:v>271</c:v>
                </c:pt>
                <c:pt idx="6">
                  <c:v>152</c:v>
                </c:pt>
                <c:pt idx="7">
                  <c:v>147</c:v>
                </c:pt>
                <c:pt idx="8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Subscribers by Race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Black</c:v>
                  </c:pt>
                  <c:pt idx="1">
                    <c:v>Unknown Race</c:v>
                  </c:pt>
                  <c:pt idx="2">
                    <c:v>White</c:v>
                  </c:pt>
                  <c:pt idx="3">
                    <c:v>Coloured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1662</c:v>
                </c:pt>
                <c:pt idx="1">
                  <c:v>1345</c:v>
                </c:pt>
                <c:pt idx="2">
                  <c:v>726</c:v>
                </c:pt>
                <c:pt idx="3">
                  <c:v>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Monthly Consumption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Watched</c:v>
                </c:pt>
              </c:strCache>
            </c:strRef>
          </c:tx>
          <c:spPr>
            <a:solidFill>
              <a:srgbClr val="F2994A"/>
            </a:solidFill>
            <a:ln w="38100" cap="flat">
              <a:solidFill>
                <a:srgbClr val="F29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994A"/>
              </a:solidFill>
              <a:ln w="9525" cap="flat">
                <a:solidFill>
                  <a:srgbClr val="F29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16550</c:v>
                </c:pt>
                <c:pt idx="1">
                  <c:v>22340</c:v>
                </c:pt>
                <c:pt idx="2">
                  <c:v>48310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Consumption by Day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Saturday</c:v>
                  </c:pt>
                  <c:pt idx="1">
                    <c:v>Friday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Tuesday</c:v>
                  </c:pt>
                  <c:pt idx="5">
                    <c:v>Sunday</c:v>
                  </c:pt>
                  <c:pt idx="6">
                    <c:v>Monday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17063</c:v>
                </c:pt>
                <c:pt idx="1">
                  <c:v>14418</c:v>
                </c:pt>
                <c:pt idx="2">
                  <c:v>13404</c:v>
                </c:pt>
                <c:pt idx="3">
                  <c:v>13325</c:v>
                </c:pt>
                <c:pt idx="4">
                  <c:v>11401</c:v>
                </c:pt>
                <c:pt idx="5">
                  <c:v>11103</c:v>
                </c:pt>
                <c:pt idx="6">
                  <c:v>6495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Peak Viewing Hours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B3A6B"/>
            </a:solidFill>
            <a:ln w="25400" cap="flat">
              <a:solidFill>
                <a:srgbClr val="1B3A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A6B"/>
              </a:solidFill>
              <a:ln w="9525" cap="flat">
                <a:solidFill>
                  <a:srgbClr val="1B3A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1481</c:v>
                </c:pt>
                <c:pt idx="1">
                  <c:v>590</c:v>
                </c:pt>
                <c:pt idx="2">
                  <c:v>1283</c:v>
                </c:pt>
                <c:pt idx="3">
                  <c:v>583</c:v>
                </c:pt>
                <c:pt idx="4">
                  <c:v>484</c:v>
                </c:pt>
                <c:pt idx="5">
                  <c:v>556</c:v>
                </c:pt>
                <c:pt idx="6">
                  <c:v>1280</c:v>
                </c:pt>
                <c:pt idx="7">
                  <c:v>1918</c:v>
                </c:pt>
                <c:pt idx="8">
                  <c:v>2697</c:v>
                </c:pt>
                <c:pt idx="9">
                  <c:v>2778</c:v>
                </c:pt>
                <c:pt idx="10">
                  <c:v>4500</c:v>
                </c:pt>
                <c:pt idx="11">
                  <c:v>5155</c:v>
                </c:pt>
                <c:pt idx="12">
                  <c:v>6454</c:v>
                </c:pt>
                <c:pt idx="13">
                  <c:v>5528</c:v>
                </c:pt>
                <c:pt idx="14">
                  <c:v>6800</c:v>
                </c:pt>
                <c:pt idx="15">
                  <c:v>5891</c:v>
                </c:pt>
                <c:pt idx="16">
                  <c:v>6845</c:v>
                </c:pt>
                <c:pt idx="17">
                  <c:v>7349</c:v>
                </c:pt>
                <c:pt idx="18">
                  <c:v>5623</c:v>
                </c:pt>
                <c:pt idx="19">
                  <c:v>4744</c:v>
                </c:pt>
                <c:pt idx="20">
                  <c:v>4158</c:v>
                </c:pt>
                <c:pt idx="21">
                  <c:v>3839</c:v>
                </c:pt>
                <c:pt idx="22">
                  <c:v>3644</c:v>
                </c:pt>
                <c:pt idx="23">
                  <c:v>3029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Lowest Consumption Days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01 Jan</c:v>
                  </c:pt>
                  <c:pt idx="1">
                    <c:v>12 Jan</c:v>
                  </c:pt>
                  <c:pt idx="2">
                    <c:v>15 Jan</c:v>
                  </c:pt>
                  <c:pt idx="3">
                    <c:v>17 Jan</c:v>
                  </c:pt>
                  <c:pt idx="4">
                    <c:v>19 Jan</c:v>
                  </c:pt>
                  <c:pt idx="5">
                    <c:v>08 Feb</c:v>
                  </c:pt>
                  <c:pt idx="6">
                    <c:v>17 Feb</c:v>
                  </c:pt>
                  <c:pt idx="7">
                    <c:v>27 Feb</c:v>
                  </c:pt>
                  <c:pt idx="8">
                    <c:v>29 Feb*</c:v>
                  </c:pt>
                  <c:pt idx="9">
                    <c:v>01 Apr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</c:v>
                </c:pt>
                <c:pt idx="1">
                  <c:v>210</c:v>
                </c:pt>
                <c:pt idx="2">
                  <c:v>230</c:v>
                </c:pt>
                <c:pt idx="3">
                  <c:v>245</c:v>
                </c:pt>
                <c:pt idx="4">
                  <c:v>260</c:v>
                </c:pt>
                <c:pt idx="5">
                  <c:v>285</c:v>
                </c:pt>
                <c:pt idx="6">
                  <c:v>300</c:v>
                </c:pt>
                <c:pt idx="7">
                  <c:v>310</c:v>
                </c:pt>
                <c:pt idx="8">
                  <c:v>50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3A6B"/>
                </a:solidFill>
                <a:latin typeface="Arial"/>
              </a:rPr>
              <a:t>Most Watched Channels by Total Minutes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3A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 WC 2011</c:v>
                  </c:pt>
                  <c:pt idx="1">
                    <c:v>SuperSport Live Events</c:v>
                  </c:pt>
                  <c:pt idx="2">
                    <c:v>Trace TV</c:v>
                  </c:pt>
                  <c:pt idx="3">
                    <c:v>Channel O</c:v>
                  </c:pt>
                  <c:pt idx="4">
                    <c:v>SuperSport Blitz</c:v>
                  </c:pt>
                  <c:pt idx="5">
                    <c:v>Boomerang</c:v>
                  </c:pt>
                  <c:pt idx="6">
                    <c:v>Cartoon Network</c:v>
                  </c:pt>
                  <c:pt idx="7">
                    <c:v>CNN</c:v>
                  </c:pt>
                  <c:pt idx="8">
                    <c:v>Africa Magic</c:v>
                  </c:pt>
                  <c:pt idx="9">
                    <c:v>E! Entertainment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24083</c:v>
                </c:pt>
                <c:pt idx="1">
                  <c:v>18108</c:v>
                </c:pt>
                <c:pt idx="2">
                  <c:v>11108</c:v>
                </c:pt>
                <c:pt idx="3">
                  <c:v>11103</c:v>
                </c:pt>
                <c:pt idx="4">
                  <c:v>5081</c:v>
                </c:pt>
                <c:pt idx="5">
                  <c:v>4108</c:v>
                </c:pt>
                <c:pt idx="6">
                  <c:v>3904</c:v>
                </c:pt>
                <c:pt idx="7">
                  <c:v>3856</c:v>
                </c:pt>
                <c:pt idx="8">
                  <c:v>2589</c:v>
                </c:pt>
                <c:pt idx="9">
                  <c:v>2058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Management (CVM) Case Study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274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 Data Analytics Programme |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070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Business Questions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190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Cleaning Decisions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94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6771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Who is watching?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797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Trends — When are they watching?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101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2841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Channels — What are they watching?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85876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4370832"/>
            <a:ext cx="45720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3708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38912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is a South African subscription television broadcaster. The CEO commissioned this analysis to help the CVM team grow the subscription base for the current financial year.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 Questions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user and usage trends of BrightTV?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182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influence consumption?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712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66674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content would you recommend to increase consumption on low consumption days?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42816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242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1970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initiatives would you recommend to grow BrightTV's user base?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 &amp; Cleaning Decisions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bright_tv_user_profile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5,376 rows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demographics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Name, Gender, Race,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Province, Social Media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1645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bright_tv_viewership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10,001 rows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 transactions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Channel, RecordDate,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(1 row per session)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Decisions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73152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profiles → Soft excluded (kept for consumption, excluded from demographics)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21024"/>
            <a:ext cx="73152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93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timestamps → Converted to SA Standard Time (UTC+2)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73152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4106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as timestamp → Converted to total minutes for SUM/AVG analysis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315968"/>
            <a:ext cx="73152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885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used → Preserves all 10,000 sessions including ghost profile activity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73152" cy="20116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6360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Segmented into 5 life stages: Kids, Teenagers, Youth, Adults, Pensioners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March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920240" cy="228600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71600"/>
            <a:ext cx="192024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Subscribers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1371600"/>
            <a:ext cx="1920240" cy="228600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1371600"/>
            <a:ext cx="192024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20240" cy="228600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14" name="Shape 12"/>
          <p:cNvSpPr/>
          <p:nvPr/>
        </p:nvSpPr>
        <p:spPr>
          <a:xfrm>
            <a:off x="4626864" y="1371600"/>
            <a:ext cx="192024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87,210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26864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Minutes Watched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03136" y="1371600"/>
            <a:ext cx="1920240" cy="228600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03136" y="1371600"/>
            <a:ext cx="192024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803136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03136" y="2514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Growth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→ Mar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"Analysing 10,000 viewing sessions across 4,386 subscribers to uncover who watches, when they watch, and how to grow the base."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Who is Watching?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09728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274320" y="3794760"/>
            <a:ext cx="73152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8404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subscribers outnumber female 7:1 (84.88% vs 11.13%). Adults dominate with 2,570 subscribers. Teen girls (14 subscribers) and Pensioners (57) are critically underrepresented — these represent the highest-growth opportunity segments.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— Province &amp; Race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760720" y="109728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274320" y="3977640"/>
            <a:ext cx="73152" cy="9144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40233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dominates. Bottom 3 provinces (Northern Cape, Free State, North West) underperform for both genders — a geographic targeting opportunity. Race mirrors SA demographics; multilingual content strategy recommended.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Trends — When are They Watching?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760720" y="1097280"/>
          <a:ext cx="3108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520440"/>
            <a:ext cx="1920240" cy="1325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7432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Jan→Mar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50592" y="3520440"/>
            <a:ext cx="1920240" cy="1325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7"/>
          <p:cNvSpPr/>
          <p:nvPr/>
        </p:nvSpPr>
        <p:spPr>
          <a:xfrm>
            <a:off x="2450592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450592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(SA)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26864" y="3520440"/>
            <a:ext cx="1920240" cy="1325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0"/>
          <p:cNvSpPr/>
          <p:nvPr/>
        </p:nvSpPr>
        <p:spPr>
          <a:xfrm>
            <a:off x="4626864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26864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Day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03136" y="3520440"/>
            <a:ext cx="1920240" cy="13258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3"/>
          <p:cNvSpPr/>
          <p:nvPr/>
        </p:nvSpPr>
        <p:spPr>
          <a:xfrm>
            <a:off x="6803136" y="3611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Mon/Tue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803136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Days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&amp; Lowest Consumption Days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760720" y="1097280"/>
          <a:ext cx="3108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520440"/>
            <a:ext cx="8595360" cy="1325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Shape 4"/>
          <p:cNvSpPr/>
          <p:nvPr/>
        </p:nvSpPr>
        <p:spPr>
          <a:xfrm>
            <a:off x="274320" y="3520440"/>
            <a:ext cx="73152" cy="13258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566160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viewing is consistently at 17:00–18:00 SA time (after work/school). January dominates lowest consumption days — a post-holiday slow start effect. 5 of the 10 worst days are in January. New Year's Day (01 Jan) is expected. *29 Feb 2026 is a data quality flag — 2026 is not a leap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Channels — What are They Watching?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8595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3794760"/>
            <a:ext cx="73152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8404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Risk: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(24,083 mins) + SuperSport Live Events (18,108 mins) = 48% of ALL consumption. Top 2 channels are both sport. BrightTV is critically sport-dependent. Wimbledon has 0 minutes — completely unwatched. Content diversification is urgent.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Preferences by Gender &amp; 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2560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Male Preferences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54864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4864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54864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Blitz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4023360" cy="2560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Female Preferences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645920"/>
            <a:ext cx="54864" cy="3200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194560"/>
            <a:ext cx="54864" cy="3200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2743200"/>
            <a:ext cx="54864" cy="3200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Cartoon Network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Channel Preferences: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Adults: Cricket, Channel O, CNN  |  Youth &amp; Kids &amp; Teens: Cricket, Trace TV, Boomerang  |  Pensioners: Cricket, SuperSport Blitz, SuperSport Live Events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Acquisition Campaign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7:1 gender imbalance — target females with Trace TV &amp; Cartoon Network campaigns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Girl Strategy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 female teenagers — social media challenges, influencer campaigns, youth promotions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42316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Bundle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kids accounts incomplete — incentivise profile completion, introduce family pricing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42316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Cricket Dependency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834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WC 2011 is 15 years old — invest in live sports rights urgently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65760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730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Trace TV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to Youth, Kids, Teens AND Females — highest-return content investment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657600"/>
            <a:ext cx="5029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30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3 Province Campaigns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NC, FS, NW underperform — regional campaigns via local radio &amp; community partnerships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(continued)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Lead-in / Lead-out Programming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strong content before &amp; after weak content on Monday &amp; Tuesday to lift viewership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Strategy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Zulu, Afrikaans, Sotho, Hindi content — position BrightTV as SA's inclusive broadcaster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42316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496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Mpumalanga Growth Investment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34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consumption per subscriber already proven — prime province for acquisition campaigns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42316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4963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Content Partnerships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2834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SA kids show producers — branded merchandise &amp; original content retains families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65760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730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Scheduling at Peak Hours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new content releases in 17:00–19:00 window to maximise reach every day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657600"/>
            <a:ext cx="502920" cy="109728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7307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March Spike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690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grew 116% vs February — investigate what drove this and replicate the strategy in Q2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256032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65176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loyal but narrow subscriber base — 4,386 subscribers, 84.88% male, concentrated in Gauteng. Massive opportunity in females, teens, kids and bottom 3 provinces.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97280"/>
            <a:ext cx="2651760" cy="256032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9" name="Shape 7"/>
          <p:cNvSpPr/>
          <p:nvPr/>
        </p:nvSpPr>
        <p:spPr>
          <a:xfrm>
            <a:off x="3154680" y="1097280"/>
            <a:ext cx="265176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691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all consumption comes from a 15-year-old cricket replay. Content diversification and live sports investment is urgent to sustain growth.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2560320"/>
          </a:xfrm>
          <a:prstGeom prst="rect">
            <a:avLst/>
          </a:prstGeom>
          <a:solidFill>
            <a:srgbClr val="243D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097280"/>
            <a:ext cx="2651760" cy="64008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192% growth from January to March 2026 proves the platform has momentum. The right content strategy and targeted campaigns will accelerate this.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"BrightTV has a loyal but narrow subscriber base. The opportunity to double the subscriber base exists by targeting females, teenagers, kids and bottom 3 provinces with the right content, campaigns and partnerships."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274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Siyakha Ntuli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BrightLearn Data Analytics Programme | June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github.com/siyakhamphemba/BrightTV-Viewership-Analytics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2026-07-24T07:42:38Z</dcterms:created>
  <dcterms:modified xsi:type="dcterms:W3CDTF">2026-07-24T07:42:38Z</dcterms:modified>
</cp:coreProperties>
</file>